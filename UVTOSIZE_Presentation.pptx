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79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E5FF"/>
                </a:solidFill>
                <a:latin typeface="Arial"/>
              </a:defRPr>
            </a:pPr>
            <a:r>
              <a:t>UVTOSIZE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EF4"/>
                </a:solidFill>
                <a:latin typeface="Arial"/>
              </a:defRPr>
            </a:pPr>
            <a:r>
              <a:t>Quantum Dot Size &amp; Size Distribution Analysis</a:t>
            </a:r>
            <a:br/>
            <a:r>
              <a:t>from UV-Vis Absorption Spectra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4"/>
                </a:solidFill>
                <a:latin typeface="Arial"/>
              </a:defRPr>
            </a:pPr>
            <a:r>
              <a:rPr dirty="0"/>
              <a:t>Background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2286000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8AAA"/>
                </a:solidFill>
                <a:latin typeface="Arial"/>
              </a:defRPr>
            </a:pPr>
            <a:r>
              <a:t>UVTOSIZE · Quantum Dot Size Analysis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A8AA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64744"/>
            <a:ext cx="53035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rPr dirty="0"/>
              <a:t>Quantum Dot Size from Optical Spectra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Semiconductor QDs exhibit size-dependent band gaps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• </a:t>
            </a:r>
            <a:r>
              <a:rPr b="1" dirty="0">
                <a:solidFill>
                  <a:srgbClr val="FF0000"/>
                </a:solidFill>
              </a:rPr>
              <a:t>First exciton peak (1Sₑ–1Sₕ) position </a:t>
            </a:r>
            <a:r>
              <a:rPr dirty="0"/>
              <a:t>→ diameter via empirical sizing curves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b="1" dirty="0">
                <a:solidFill>
                  <a:srgbClr val="FF0000"/>
                </a:solidFill>
              </a:rPr>
              <a:t>• Peak width (HWHM) </a:t>
            </a:r>
            <a:r>
              <a:rPr dirty="0"/>
              <a:t>→ </a:t>
            </a:r>
            <a:r>
              <a:rPr b="1" dirty="0">
                <a:solidFill>
                  <a:srgbClr val="FF0000"/>
                </a:solidFill>
              </a:rPr>
              <a:t>size distribution σ</a:t>
            </a:r>
            <a:r>
              <a:rPr dirty="0"/>
              <a:t> via error propagation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C8A96E"/>
                </a:solidFill>
                <a:latin typeface="Arial"/>
              </a:defRPr>
            </a:pPr>
            <a:r>
              <a:rPr dirty="0"/>
              <a:t>Challenges Addressed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Automated QD type detection from filename/spectrum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Robust baseline subtraction for absorption edges (</a:t>
            </a:r>
            <a:r>
              <a:rPr dirty="0" err="1"/>
              <a:t>CdS</a:t>
            </a:r>
            <a:r>
              <a:rPr dirty="0"/>
              <a:t>/</a:t>
            </a:r>
            <a:r>
              <a:rPr dirty="0" err="1"/>
              <a:t>CdSe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Literature-constrained Gaussian fitting to prevent unphysical results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Publication-quality figures with colorblind-friendly palettes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Multi-format export (PNG/PDF/SVG) + Word report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1336144"/>
            <a:ext cx="4992624" cy="4698896"/>
          </a:xfrm>
          <a:prstGeom prst="rect">
            <a:avLst/>
          </a:prstGeom>
          <a:solidFill>
            <a:srgbClr val="12223E"/>
          </a:solidFill>
          <a:ln w="6350">
            <a:solidFill>
              <a:srgbClr val="00E5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8272" y="13361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Arial"/>
              </a:defRPr>
            </a:pPr>
            <a:r>
              <a:rPr dirty="0"/>
              <a:t>Empirical Sizing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69F00"/>
                </a:solidFill>
                <a:latin typeface="Arial"/>
              </a:defRPr>
            </a:pPr>
            <a:r>
              <a:rPr dirty="0" err="1"/>
              <a:t>PbS</a:t>
            </a:r>
            <a:r>
              <a:rPr dirty="0"/>
              <a:t>  (</a:t>
            </a:r>
            <a:r>
              <a:rPr dirty="0" err="1"/>
              <a:t>Moreels</a:t>
            </a:r>
            <a:r>
              <a:rPr dirty="0"/>
              <a:t>, ACS Nano 2009)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r>
              <a:rPr dirty="0"/>
              <a:t>E₀ = 0.41 + 1/(0.0252·d² + 0.283·d)</a:t>
            </a:r>
          </a:p>
          <a:p>
            <a:pPr>
              <a:spcAft>
                <a:spcPts val="600"/>
              </a:spcAft>
              <a:defRPr sz="1300" b="0">
                <a:solidFill>
                  <a:srgbClr val="6A8AAA"/>
                </a:solidFill>
                <a:latin typeface="Arial"/>
              </a:defRPr>
            </a:pPr>
            <a:r>
              <a:rPr dirty="0"/>
              <a:t>Valid: 730–2500 nm  |  2.3–10 nm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300" b="1">
                <a:solidFill>
                  <a:srgbClr val="E69F00"/>
                </a:solidFill>
                <a:latin typeface="Arial"/>
              </a:defRPr>
            </a:pPr>
            <a:r>
              <a:rPr dirty="0" err="1"/>
              <a:t>PbSe</a:t>
            </a:r>
            <a:r>
              <a:rPr dirty="0"/>
              <a:t>  (</a:t>
            </a:r>
            <a:r>
              <a:rPr dirty="0" err="1"/>
              <a:t>Moreels</a:t>
            </a:r>
            <a:r>
              <a:rPr dirty="0"/>
              <a:t>, Chem. Mater. 2007)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r>
              <a:rPr dirty="0"/>
              <a:t>E₀ = 0.278 + 1/(0.016·d² + 0.209·d + 0.45)</a:t>
            </a:r>
          </a:p>
          <a:p>
            <a:pPr>
              <a:spcAft>
                <a:spcPts val="600"/>
              </a:spcAft>
              <a:defRPr sz="1300" b="0">
                <a:solidFill>
                  <a:srgbClr val="6A8AAA"/>
                </a:solidFill>
                <a:latin typeface="Arial"/>
              </a:defRPr>
            </a:pPr>
            <a:r>
              <a:rPr dirty="0"/>
              <a:t>Valid: 800–4000 nm  |  2–20 nm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300" b="1">
                <a:solidFill>
                  <a:srgbClr val="009E73"/>
                </a:solidFill>
                <a:latin typeface="Arial"/>
              </a:defRPr>
            </a:pPr>
            <a:r>
              <a:rPr dirty="0" err="1"/>
              <a:t>CdS</a:t>
            </a:r>
            <a:r>
              <a:rPr dirty="0"/>
              <a:t>  (Yu, Chem. Mater. 2003)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r>
              <a:rPr dirty="0"/>
              <a:t>D = −6.65×10⁻⁸·λ³ + 1.96×10⁻⁴·λ² − 9.24×10⁻²·λ + 13.29</a:t>
            </a:r>
          </a:p>
          <a:p>
            <a:pPr>
              <a:spcAft>
                <a:spcPts val="600"/>
              </a:spcAft>
              <a:defRPr sz="1300" b="0">
                <a:solidFill>
                  <a:srgbClr val="6A8AAA"/>
                </a:solidFill>
                <a:latin typeface="Arial"/>
              </a:defRPr>
            </a:pPr>
            <a:r>
              <a:rPr dirty="0"/>
              <a:t>Valid: 360–500 nm  |  1–6 nm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300" b="1">
                <a:solidFill>
                  <a:srgbClr val="009E73"/>
                </a:solidFill>
                <a:latin typeface="Arial"/>
              </a:defRPr>
            </a:pPr>
            <a:r>
              <a:rPr dirty="0" err="1"/>
              <a:t>CdSe</a:t>
            </a:r>
            <a:r>
              <a:rPr dirty="0"/>
              <a:t>  (Yu, Chem. Mater. 2003)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r>
              <a:rPr dirty="0"/>
              <a:t>D = 1.61×10⁻⁹·λ⁴ − 2.66×10⁻⁶·λ³ + 1.62×10⁻³·λ² − 0.428·λ + 41.57</a:t>
            </a:r>
          </a:p>
          <a:p>
            <a:pPr>
              <a:spcAft>
                <a:spcPts val="600"/>
              </a:spcAft>
              <a:defRPr sz="1300" b="0">
                <a:solidFill>
                  <a:srgbClr val="6A8AAA"/>
                </a:solidFill>
                <a:latin typeface="Arial"/>
              </a:defRPr>
            </a:pPr>
            <a:r>
              <a:rPr dirty="0"/>
              <a:t>Valid: 510–640 nm  |  1.5–8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FF"/>
                </a:solidFill>
                <a:latin typeface="Arial"/>
              </a:defRPr>
            </a:pPr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4"/>
                </a:solidFill>
                <a:latin typeface="Arial"/>
              </a:defRPr>
            </a:pPr>
            <a:r>
              <a:rPr dirty="0"/>
              <a:t>QD Type Auto-Detection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2286000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8AAA"/>
                </a:solidFill>
                <a:latin typeface="Arial"/>
              </a:defRPr>
            </a:pPr>
            <a:r>
              <a:t>UVTOSIZE · Quantum Dot Size Analysis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A8AAA"/>
                </a:solidFill>
                <a:latin typeface="Arial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rPr dirty="0"/>
              <a:t>Three-Tier Detection Strategy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C8A96E"/>
                </a:solidFill>
                <a:latin typeface="Arial"/>
              </a:defRPr>
            </a:pPr>
            <a:r>
              <a:rPr dirty="0"/>
              <a:t>Method 1 — User Prompt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Parse natural language: "</a:t>
            </a:r>
            <a:r>
              <a:rPr b="1" dirty="0" err="1">
                <a:solidFill>
                  <a:srgbClr val="FF0000"/>
                </a:solidFill>
              </a:rPr>
              <a:t>PbS量子点</a:t>
            </a:r>
            <a:r>
              <a:rPr dirty="0"/>
              <a:t>", "</a:t>
            </a:r>
            <a:r>
              <a:rPr dirty="0" err="1"/>
              <a:t>CdSe</a:t>
            </a:r>
            <a:r>
              <a:rPr dirty="0"/>
              <a:t> analysis"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C8A96E"/>
                </a:solidFill>
                <a:latin typeface="Arial"/>
              </a:defRPr>
            </a:pPr>
            <a:r>
              <a:rPr dirty="0"/>
              <a:t>Method 2 — Filename Keywords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Regex match: pbs/</a:t>
            </a:r>
            <a:r>
              <a:rPr dirty="0" err="1"/>
              <a:t>pbse</a:t>
            </a:r>
            <a:r>
              <a:rPr dirty="0"/>
              <a:t>/</a:t>
            </a:r>
            <a:r>
              <a:rPr dirty="0" err="1"/>
              <a:t>cds</a:t>
            </a:r>
            <a:r>
              <a:rPr dirty="0"/>
              <a:t>/</a:t>
            </a:r>
            <a:r>
              <a:rPr dirty="0" err="1"/>
              <a:t>cdse</a:t>
            </a:r>
            <a:r>
              <a:rPr dirty="0"/>
              <a:t> (case-insensitive)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Examples: "500</a:t>
            </a:r>
            <a:r>
              <a:rPr b="1" dirty="0">
                <a:solidFill>
                  <a:srgbClr val="FF0000"/>
                </a:solidFill>
              </a:rPr>
              <a:t>pbs</a:t>
            </a:r>
            <a:r>
              <a:rPr dirty="0"/>
              <a:t> 20mg ml.txt" → </a:t>
            </a:r>
            <a:r>
              <a:rPr dirty="0" err="1"/>
              <a:t>PbS</a:t>
            </a: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C8A96E"/>
                </a:solidFill>
                <a:latin typeface="Arial"/>
              </a:defRPr>
            </a:pPr>
            <a:r>
              <a:rPr dirty="0"/>
              <a:t>Method 3 — Spectral Inference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Find most prominent long-λ peak → compare position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against each material's calibrated range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Rank by confidence: high / medium / low</a:t>
            </a:r>
          </a:p>
          <a:p>
            <a:pPr>
              <a:spcAft>
                <a:spcPts val="600"/>
              </a:spcAft>
              <a:defRPr sz="1500" b="0">
                <a:solidFill>
                  <a:srgbClr val="E8EEF4"/>
                </a:solidFill>
                <a:latin typeface="Arial"/>
              </a:defRPr>
            </a:pPr>
            <a:r>
              <a:rPr dirty="0"/>
              <a:t>  Auto-select if confidence = "high"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842" y="1961295"/>
            <a:ext cx="5029200" cy="4114800"/>
          </a:xfrm>
          <a:prstGeom prst="rect">
            <a:avLst/>
          </a:prstGeom>
          <a:solidFill>
            <a:srgbClr val="12223E"/>
          </a:solidFill>
          <a:ln w="6350">
            <a:solidFill>
              <a:srgbClr val="00E5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Arial"/>
              </a:defRPr>
            </a:pPr>
            <a:r>
              <a:t>Spectral Inference Ranges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8EEF4"/>
                </a:solidFill>
                <a:latin typeface="Arial"/>
              </a:defRPr>
            </a:pPr>
            <a:r>
              <a:t>Peak Wavelength   →  Best Match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009E73"/>
                </a:solidFill>
                <a:latin typeface="Arial"/>
              </a:defRPr>
            </a:pPr>
            <a:r>
              <a:t>360–500 nm        →  CdS    (high)</a:t>
            </a:r>
          </a:p>
          <a:p>
            <a:pPr>
              <a:spcAft>
                <a:spcPts val="600"/>
              </a:spcAft>
              <a:defRPr sz="1300" b="0">
                <a:solidFill>
                  <a:srgbClr val="009E73"/>
                </a:solidFill>
                <a:latin typeface="Arial"/>
              </a:defRPr>
            </a:pPr>
            <a:r>
              <a:t>510–640 nm        →  CdSe   (high)</a:t>
            </a:r>
          </a:p>
          <a:p>
            <a:pPr>
              <a:spcAft>
                <a:spcPts val="600"/>
              </a:spcAft>
              <a:defRPr sz="1300" b="0">
                <a:solidFill>
                  <a:srgbClr val="E69F00"/>
                </a:solidFill>
                <a:latin typeface="Arial"/>
              </a:defRPr>
            </a:pPr>
            <a:r>
              <a:t>800–2500 nm       →  PbS    (high)</a:t>
            </a:r>
          </a:p>
          <a:p>
            <a:pPr>
              <a:spcAft>
                <a:spcPts val="600"/>
              </a:spcAft>
              <a:defRPr sz="1300" b="0">
                <a:solidFill>
                  <a:srgbClr val="E69F00"/>
                </a:solidFill>
                <a:latin typeface="Arial"/>
              </a:defRPr>
            </a:pPr>
            <a:r>
              <a:t>                  →  PbSe   (high)</a:t>
            </a:r>
          </a:p>
          <a:p>
            <a:pPr>
              <a:spcAft>
                <a:spcPts val="600"/>
              </a:spcAft>
              <a:defRPr sz="1300" b="0">
                <a:solidFill>
                  <a:srgbClr val="E69F00"/>
                </a:solidFill>
                <a:latin typeface="Arial"/>
              </a:defRPr>
            </a:pPr>
            <a:r>
              <a:t>2500–4000 nm      →  PbSe   (high)</a:t>
            </a:r>
          </a:p>
          <a:p>
            <a:pPr>
              <a:spcAft>
                <a:spcPts val="600"/>
              </a:spcAft>
              <a:defRPr sz="1300" b="0">
                <a:solidFill>
                  <a:srgbClr val="D55E00"/>
                </a:solidFill>
                <a:latin typeface="Arial"/>
              </a:defRPr>
            </a:pPr>
            <a:r>
              <a:t>&lt;360 or &gt;4000 nm  →  Ask user  (low)</a:t>
            </a:r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8EEF4"/>
                </a:solidFill>
                <a:latin typeface="Arial"/>
              </a:defRPr>
            </a:pPr>
            <a:r>
              <a:t>Confidence = f(peak position, margin from</a:t>
            </a:r>
          </a:p>
          <a:p>
            <a:pPr>
              <a:spcAft>
                <a:spcPts val="600"/>
              </a:spcAft>
              <a:defRPr sz="1300" b="0">
                <a:solidFill>
                  <a:srgbClr val="6A8AAA"/>
                </a:solidFill>
                <a:latin typeface="Arial"/>
              </a:defRPr>
            </a:pPr>
            <a:r>
              <a:t>range boundary, peak prominence)</a:t>
            </a:r>
          </a:p>
          <a:p>
            <a:pPr>
              <a:spcAft>
                <a:spcPts val="600"/>
              </a:spcAft>
              <a:defRPr sz="1300" b="0">
                <a:solidFill>
                  <a:srgbClr val="00E5FF"/>
                </a:solidFill>
                <a:latin typeface="Arial"/>
              </a:defRPr>
            </a:pPr>
            <a:r>
              <a:t>API: POST /api/uvtosize/autodetect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8A6EE-9ED7-C97E-F418-91F6EFE6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04D38B-4A77-091C-192B-98217DEC10CA}"/>
              </a:ext>
            </a:extLst>
          </p:cNvPr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AE094-058E-655A-6308-E932AB9309F9}"/>
              </a:ext>
            </a:extLst>
          </p:cNvPr>
          <p:cNvSpPr txBox="1"/>
          <p:nvPr/>
        </p:nvSpPr>
        <p:spPr>
          <a:xfrm>
            <a:off x="777240" y="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0E5FF"/>
                </a:solidFill>
                <a:latin typeface="Arial"/>
              </a:defRPr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r>
              <a:rPr lang="en-US" sz="2800" b="1" dirty="0">
                <a:solidFill>
                  <a:srgbClr val="00E5FF"/>
                </a:solidFill>
                <a:latin typeface="Arial"/>
              </a:rPr>
              <a:t>3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E5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40756-BCC3-4EED-B783-E6344791367D}"/>
              </a:ext>
            </a:extLst>
          </p:cNvPr>
          <p:cNvSpPr/>
          <p:nvPr/>
        </p:nvSpPr>
        <p:spPr>
          <a:xfrm>
            <a:off x="822960" y="1463040"/>
            <a:ext cx="2286000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117BB-92B0-2C31-F461-88E02D358F38}"/>
              </a:ext>
            </a:extLst>
          </p:cNvPr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6A8AAA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A8AA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UVTOSIZE · Quantum Dot Size Analysis Tool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3BD2E-052F-0A00-BD73-D13091FEC39A}"/>
              </a:ext>
            </a:extLst>
          </p:cNvPr>
          <p:cNvSpPr txBox="1"/>
          <p:nvPr/>
        </p:nvSpPr>
        <p:spPr>
          <a:xfrm>
            <a:off x="10515600" y="6400800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6A8AAA"/>
                </a:solidFill>
                <a:latin typeface="Arial"/>
              </a:defRPr>
            </a:pPr>
            <a:r>
              <a:rPr lang="en-US" sz="1000" dirty="0">
                <a:solidFill>
                  <a:srgbClr val="6A8AAA"/>
                </a:solidFill>
                <a:latin typeface="Arial"/>
              </a:rPr>
              <a:t>4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6A8AA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5FF1AB2-DF1A-95E0-EAF6-5ED76DB49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68" t="1471" r="5664" b="-1471"/>
          <a:stretch>
            <a:fillRect/>
          </a:stretch>
        </p:blipFill>
        <p:spPr>
          <a:xfrm>
            <a:off x="695873" y="603068"/>
            <a:ext cx="5809533" cy="32006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441CBEB-44F6-9956-453E-A22CFDE3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493" y="627370"/>
            <a:ext cx="5354233" cy="535895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F7C472E-23ED-45B2-35E4-A0669D44B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39" y="3803754"/>
            <a:ext cx="5122594" cy="298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3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6A803-EF93-19BF-394A-99513505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5692E-EEBC-B11D-71E2-F3D0851E6483}"/>
              </a:ext>
            </a:extLst>
          </p:cNvPr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B4DFE-B211-482C-C46D-51E004318AF5}"/>
              </a:ext>
            </a:extLst>
          </p:cNvPr>
          <p:cNvSpPr txBox="1"/>
          <p:nvPr/>
        </p:nvSpPr>
        <p:spPr>
          <a:xfrm>
            <a:off x="777240" y="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0E5FF"/>
                </a:solidFill>
                <a:latin typeface="Arial"/>
              </a:defRPr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r>
              <a:rPr lang="en-US" sz="2800" b="1" dirty="0">
                <a:solidFill>
                  <a:srgbClr val="00E5FF"/>
                </a:solidFill>
                <a:latin typeface="Arial"/>
              </a:rPr>
              <a:t>4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E5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9277AA-4FB5-FBB4-269B-A092A80F58D7}"/>
              </a:ext>
            </a:extLst>
          </p:cNvPr>
          <p:cNvSpPr/>
          <p:nvPr/>
        </p:nvSpPr>
        <p:spPr>
          <a:xfrm>
            <a:off x="899160" y="1144721"/>
            <a:ext cx="2286000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6506-C4E4-8999-8F61-7E9F9042DBF7}"/>
              </a:ext>
            </a:extLst>
          </p:cNvPr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6A8AAA"/>
                </a:solidFill>
                <a:latin typeface="Arial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A8AA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UVTOSIZE · Quantum Dot Size Analysis Tool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6D319-3EB6-0B8B-3A3E-2207EBAE00CB}"/>
              </a:ext>
            </a:extLst>
          </p:cNvPr>
          <p:cNvSpPr txBox="1"/>
          <p:nvPr/>
        </p:nvSpPr>
        <p:spPr>
          <a:xfrm>
            <a:off x="10515600" y="6400800"/>
            <a:ext cx="137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6A8AAA"/>
                </a:solidFill>
                <a:latin typeface="Arial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8AA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6A8AA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7C0F1-580B-58DC-516F-F835BAECB6DD}"/>
              </a:ext>
            </a:extLst>
          </p:cNvPr>
          <p:cNvSpPr txBox="1"/>
          <p:nvPr/>
        </p:nvSpPr>
        <p:spPr>
          <a:xfrm>
            <a:off x="777240" y="518036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EEF4"/>
                </a:solidFill>
                <a:latin typeface="Arial"/>
              </a:defRPr>
            </a:pPr>
            <a:r>
              <a:rPr lang="en-US" altLang="zh-CN" dirty="0"/>
              <a:t>Nature-Skills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3664BAD-5C69-0988-DB66-EDC69DCA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4721"/>
            <a:ext cx="5314846" cy="50131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27AA9E-A8F1-5629-F90C-6060A2606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006" y="1144721"/>
            <a:ext cx="3609292" cy="258691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72E7967-3D1C-761E-626C-0BB954C94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006" y="3812264"/>
            <a:ext cx="5646529" cy="304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5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466</Words>
  <Application>Microsoft Office PowerPoint</Application>
  <PresentationFormat>宽屏</PresentationFormat>
  <Paragraphs>73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 LIU</cp:lastModifiedBy>
  <cp:revision>4</cp:revision>
  <dcterms:created xsi:type="dcterms:W3CDTF">2013-01-27T09:14:16Z</dcterms:created>
  <dcterms:modified xsi:type="dcterms:W3CDTF">2026-06-08T13:45:50Z</dcterms:modified>
  <cp:category/>
</cp:coreProperties>
</file>